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3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%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1A1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CNN-LSTM</c:v>
                </c:pt>
                <c:pt idx="1">
                  <c:v>LSTM</c:v>
                </c:pt>
                <c:pt idx="2">
                  <c:v>XGBoost</c:v>
                </c:pt>
                <c:pt idx="3">
                  <c:v>Random Forest</c:v>
                </c:pt>
                <c:pt idx="4">
                  <c:v>SVM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94.3</c:v>
                </c:pt>
                <c:pt idx="1">
                  <c:v>91.7</c:v>
                </c:pt>
                <c:pt idx="2">
                  <c:v>88.4</c:v>
                </c:pt>
                <c:pt idx="3">
                  <c:v>85.1</c:v>
                </c:pt>
                <c:pt idx="4">
                  <c:v>79.599999999999994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8A6-478C-BCC0-B2AF297478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7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Per-Class Accuracy %</c:v>
                </c:pt>
              </c:strCache>
            </c:strRef>
          </c:tx>
          <c:spPr>
            <a:solidFill>
              <a:srgbClr val="1A527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1A1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Normal Aging</c:v>
                </c:pt>
                <c:pt idx="1">
                  <c:v>Microbial</c:v>
                </c:pt>
                <c:pt idx="2">
                  <c:v>Water Ingress</c:v>
                </c:pt>
                <c:pt idx="3">
                  <c:v>Wax Crystal.</c:v>
                </c:pt>
                <c:pt idx="4">
                  <c:v>Bypass Fail</c:v>
                </c:pt>
                <c:pt idx="5">
                  <c:v>Seal Fail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92.1</c:v>
                </c:pt>
                <c:pt idx="1">
                  <c:v>89.3</c:v>
                </c:pt>
                <c:pt idx="2">
                  <c:v>97.2</c:v>
                </c:pt>
                <c:pt idx="3">
                  <c:v>96.8</c:v>
                </c:pt>
                <c:pt idx="4">
                  <c:v>84.1</c:v>
                </c:pt>
                <c:pt idx="5">
                  <c:v>88.7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6B-4C47-ABA0-8C516053574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75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Fixed Interval</c:v>
                </c:pt>
              </c:strCache>
            </c:strRef>
          </c:tx>
          <c:spPr>
            <a:solidFill>
              <a:srgbClr val="E8E8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1A1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Replacements/yr</c:v>
                </c:pt>
                <c:pt idx="1">
                  <c:v>Downtime Events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3.1</c:v>
                </c:pt>
                <c:pt idx="1">
                  <c:v>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96-4222-A3B6-68E34F8763D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ML-PdM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A1A1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Replacements/yr</c:v>
                </c:pt>
                <c:pt idx="1">
                  <c:v>Downtime Events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2.2000000000000002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B96-4222-A3B6-68E34F8763D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585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Presentation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65760" y="46634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Diesel Filter Modernization:</a:t>
            </a:r>
            <a:endParaRPr lang="en-US" sz="2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Predictive Maintenance and Intelligent</a:t>
            </a:r>
            <a:endParaRPr lang="en-US" sz="2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Fault Diagnosis Using Machine Learning</a:t>
            </a:r>
            <a:endParaRPr lang="en-US" sz="2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and Data Analytics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743200" y="2834640"/>
            <a:ext cx="3657600" cy="0"/>
          </a:xfrm>
          <a:prstGeom prst="line">
            <a:avLst/>
          </a:prstGeom>
          <a:noFill/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Roll No: 221090592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Sciences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Mentor: Dr. </a:t>
            </a:r>
            <a:r>
              <a:rPr lang="en-US" sz="120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Gifty Gupta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3931920" cy="1417320"/>
          </a:xfrm>
          <a:prstGeom prst="rect">
            <a:avLst/>
          </a:prstGeom>
          <a:solidFill>
            <a:srgbClr val="F5F5F5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57200" y="1280160"/>
            <a:ext cx="64008" cy="14173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008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1691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DPFs capture &gt;99% of PM2.5 but degrade nonlinearly. Fixed-interval maintenance misses variable soot/ash loading.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280160"/>
            <a:ext cx="3931920" cy="1417320"/>
          </a:xfrm>
          <a:prstGeom prst="rect">
            <a:avLst/>
          </a:prstGeom>
          <a:solidFill>
            <a:srgbClr val="F5F5F5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4663440" y="1280160"/>
            <a:ext cx="64008" cy="14173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84632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2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Current Gap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1691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Calendar/mileage-based protocols create bimodal failure: unnecessary replacements on easy routes, missed failures on harsh ones.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926080"/>
            <a:ext cx="3931920" cy="1417320"/>
          </a:xfrm>
          <a:prstGeom prst="rect">
            <a:avLst/>
          </a:prstGeom>
          <a:solidFill>
            <a:srgbClr val="F5F5F5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64008" cy="1417320"/>
          </a:xfrm>
          <a:prstGeom prst="rect">
            <a:avLst/>
          </a:prstGeom>
          <a:solidFill>
            <a:srgbClr val="148F7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40080" y="3017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8F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Opportunity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3375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Low-cost OBD-II sensors + fleet telematics + mature ML frameworks enable data-driven predictive maintenance.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63440" y="2926080"/>
            <a:ext cx="3931920" cy="1417320"/>
          </a:xfrm>
          <a:prstGeom prst="rect">
            <a:avLst/>
          </a:prstGeom>
          <a:solidFill>
            <a:srgbClr val="F5F5F5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4663440" y="2926080"/>
            <a:ext cx="64008" cy="141732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846320" y="3017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Emission Standards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46320" y="33375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Euro VI, BS-VI, EPA Tier 4 Final place DPF at center of fleet compliance. Proper maintenance = regulatory compliance.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Objectives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Objectives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8229600" cy="73152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594360" y="135331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94360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13258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ML models predict DPF clogging with sufficient accuracy and lead time for proactive maintenance?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594360" y="222199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9436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21945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ML architecture best captures temporal dynamics of soot accumulation and filter degradation?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8229600" cy="73152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594360" y="30906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594360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quantifiable improvements in maintenance efficiency vs. fixed-interval protocols?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594360" y="395935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9436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34440" y="393192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a practical, edge-deployable filter health monitoring system be architected?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 Review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 Review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3200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Author(s)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Contribution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Key Finding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Bisset (1984)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First analytical DPF regeneration model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Wall-flow monolith thermal regeneration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Konstandopoulos &amp; Johnson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Pressure drop model for wall-flow filters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Foundation of production DPF monitoring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Theissler et al.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Random Forest for ECU fault classification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8-12% improvement over rule-based systems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Zhao et al.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LSTM for vibration-based wear prediction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Recurrent models excel at long-term degradation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Gao et al.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Bayesian NN for DPF state estimation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89.7% accuracy with uncertainty quantification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Wang et al.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XGBoost for fuel contamination detection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93.1% accuracy on 4-class fuel fault task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457200" y="1234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Author(s)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468880" y="1234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Contribution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0" y="1234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Finding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&amp; Data Collection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&amp; Data Collection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1920240" cy="109728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57200" y="12344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7200" y="1691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Vehicles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fleet operators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06040" y="1188720"/>
            <a:ext cx="1920240" cy="109728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2606040" y="12344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2.8M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606040" y="1691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Observations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0604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Hz sampling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1188720"/>
            <a:ext cx="1920240" cy="109728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754880" y="12344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754880" y="1691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Months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Jan 2023 – Jun 2024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903720" y="1188720"/>
            <a:ext cx="1920240" cy="109728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903720" y="12344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903720" y="16916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Regions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0372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Punjab, Haryana, Rajasthan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Vehicle Types: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27432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 Light Commercial Trucks (3.5–12t GVW)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Heavy-Duty Haulage Vehicles (&gt;25t GVW)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Agricultural Tractors (75–130 hp)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Ground Truth: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DPF: Dashboard warnings + workshop inspection + gravimetric weighing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Fuel Filter: Laboratory analysis + spectrometric fuel analysis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Feature Engineering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Feature Engineering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3200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Feature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Role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Differential Pressure (ΔP)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Pressure drop across DPF (kPa)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Primary soot loading indicator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Exhaust Temp Diff (ΔT)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Upstream - downstream EGT (°C)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Regeneration activity indicator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Engine Load RoC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Derivative of normalized torque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Duty cycle severity metric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Fuel Consumption Rate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Instantaneous fuel flow (L/hr)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Operating intensity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Soot Accumulation Index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Model-derived soot mass (g/L)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Composite health metric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Coolant Temperature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Engine thermal state (°C)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Warm-up / overheating proxy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Vehicle Speed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Instantaneous speed (km/hr)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Duty cycle classification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Regeneration Flag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Binary active regen indicator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Cycle status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1188720"/>
            <a:ext cx="8229600" cy="347472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457200" y="11887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Feature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743200" y="11887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Description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943600" y="11887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 features by mutual information + RFE: ΔP, ΔT, SAI, Engine Load RoC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Machine Learning Models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74320" y="1234440"/>
            <a:ext cx="2697480" cy="137160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74320" y="1234440"/>
            <a:ext cx="2697480" cy="347472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74320" y="12344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16459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300 trees, depth 20, min leaf 5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Interpretable baseline + feature importance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1234440"/>
            <a:ext cx="2697480" cy="137160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200400" y="1234440"/>
            <a:ext cx="2697480" cy="347472"/>
          </a:xfrm>
          <a:prstGeom prst="rect">
            <a:avLst/>
          </a:prstGeom>
          <a:solidFill>
            <a:srgbClr val="2E86C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200400" y="12344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XGBoost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16459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500 estimators, lr 0.05, depth 6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Best for structured tabular classification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234440"/>
            <a:ext cx="2697480" cy="137160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126480" y="1234440"/>
            <a:ext cx="2697480" cy="347472"/>
          </a:xfrm>
          <a:prstGeom prst="rect">
            <a:avLst/>
          </a:prstGeom>
          <a:solidFill>
            <a:srgbClr val="8E44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126480" y="12344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SVM (RBF)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16459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C=10, γ=0.01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Classical maximum-margin baseline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834640"/>
            <a:ext cx="2697480" cy="137160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274320" y="2834640"/>
            <a:ext cx="2697480" cy="347472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274320" y="28346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LSTM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32461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2-layer, 128 units, dropout 0.3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Long-range temporal dependencies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0" y="2834640"/>
            <a:ext cx="2697480" cy="137160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3200400" y="2834640"/>
            <a:ext cx="2697480" cy="347472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200400" y="28346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CNN-LSTM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324612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64 conv filters + 128 LSTM units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Dual-timescale: local transients + cumulative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Setup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Setup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3840480" cy="320040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572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Split &amp; Validation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691640"/>
            <a:ext cx="3474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Vehicle-stratified 80/20 split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34 vehicles train / 8 vehicles test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10% validation for early stopping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Vehicle-level stratification ensures generalization to unseen operational contexts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LSTM/CNN-LSTM: 60-min rolling windows, 10-min stride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1234440"/>
            <a:ext cx="3840480" cy="320040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84632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Training Configuration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0" y="1691640"/>
            <a:ext cx="34747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Optimizer: Adam (lr = 1e-3)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LR reduction on plateau (factor 0.5, patience 5)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Early stopping: patience 15 epochs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Features normalized to [0,1] using train-set stats only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5-fold CV for hyperparameter selection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Results: DPF Clog Prediction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Results: DPF Clog Prediction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#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Model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Accuracy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F1-Score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Recall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AUC-ROC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CNN-LSTM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94.3%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0.937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0.941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0.978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LSTM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91.7%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0.912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0.918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0.961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XGBoost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88.4%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0.879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0.875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0.944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Random Forest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85.1%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0.847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0.843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0.928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SVM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79.6%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0.791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0.784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7"/>
          <p:cNvSpPr/>
          <p:nvPr/>
        </p:nvSpPr>
        <p:spPr>
          <a:xfrm>
            <a:off x="731520" y="1280160"/>
            <a:ext cx="7680960" cy="384048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731520" y="128016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#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280160" y="1280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291840" y="12801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0" y="12801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F1-Score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852160" y="12801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Recall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132320" y="12801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AUC-ROC</a:t>
            </a:r>
            <a:endParaRPr lang="en-US" sz="110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731520" y="2926080"/>
          <a:ext cx="768096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Results: Fuel Filter Classification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Results: Fuel Filter Fault Classification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#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Model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Accuracy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F1 (macro)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Recall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AUC-ROC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XGBoost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91.8%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0.914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0.907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0.967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CNN-LSTM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89.5%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0.891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0.886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0.958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Random Forest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86.3%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0.859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0.855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0.941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LSTM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83.7%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0.832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0.826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0.921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SVM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76.4%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0.758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0.752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0.889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31520" y="1280160"/>
            <a:ext cx="7680960" cy="384048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8"/>
          <p:cNvSpPr/>
          <p:nvPr/>
        </p:nvSpPr>
        <p:spPr>
          <a:xfrm>
            <a:off x="731520" y="128016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#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280160" y="1280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291840" y="12801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0" y="12801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F1 (macro)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852160" y="12801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Recall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132320" y="12801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AUC-ROC</a:t>
            </a:r>
            <a:endParaRPr lang="en-US" sz="110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731520" y="2926080"/>
          <a:ext cx="768096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Insight: Architecture-Task Fit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3840480" cy="3017520"/>
          </a:xfrm>
          <a:prstGeom prst="rect">
            <a:avLst/>
          </a:prstGeom>
          <a:solidFill>
            <a:srgbClr val="F5F5F5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57200" y="1280160"/>
            <a:ext cx="3840480" cy="41148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57200" y="1280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CNN-LSTM wins DPF (94.3%)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17830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DPF clog prediction is a trajectory forecasting problem with dual-timescale dynamics: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CNN layer extracts local transient patterns (hard acceleration, regen events)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LSTM integrates them into a cumulative degradation trajectory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maps directly onto the known physics of DPF soot loading.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46320" y="1280160"/>
            <a:ext cx="3840480" cy="3017520"/>
          </a:xfrm>
          <a:prstGeom prst="rect">
            <a:avLst/>
          </a:prstGeom>
          <a:solidFill>
            <a:srgbClr val="F5F5F5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4846320" y="1280160"/>
            <a:ext cx="3840480" cy="41148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846320" y="12801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XGBoost wins Fuel Filter (91.8%)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178308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Fuel filter fault classification is a static pattern recognition problem: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fault produces a characteristic signature at any moment, independent of preceding trajectory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Gradient-boosted trees excel at hierarchical feature interaction rules for tabular data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Temporal models add noise, not signal, for this task.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Maintenance Impact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Maintenance Scheduling Impact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2651760" cy="1645920"/>
          </a:xfrm>
          <a:prstGeom prst="rect">
            <a:avLst/>
          </a:prstGeom>
          <a:solidFill>
            <a:srgbClr val="F5F5F5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-34.2%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7200" y="1965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Unnecessary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Replacements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3.1 → 2.0 per vehicle-year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37560" y="1234440"/>
            <a:ext cx="2651760" cy="1645920"/>
          </a:xfrm>
          <a:prstGeom prst="rect">
            <a:avLst/>
          </a:prstGeom>
          <a:solidFill>
            <a:srgbClr val="F5F5F5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337560" y="1280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48F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-61.4%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337560" y="1965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Unplanned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Downtime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3756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DPF overloading &amp; bypass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2651760" cy="1645920"/>
          </a:xfrm>
          <a:prstGeom prst="rect">
            <a:avLst/>
          </a:prstGeom>
          <a:solidFill>
            <a:srgbClr val="F5F5F5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217920" y="1280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52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47 hrs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217920" y="1965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 Warning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σ = 8.2 hours</a:t>
            </a:r>
            <a:endParaRPr lang="en-US" sz="90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731520" y="3017520"/>
          <a:ext cx="7680960" cy="1463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 Architecture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Edge-Cloud System Architecture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74320" y="1280160"/>
            <a:ext cx="1554480" cy="237744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74320" y="1280160"/>
            <a:ext cx="155448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74320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Edge Inference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Node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47472" y="1874520"/>
            <a:ext cx="1408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ARM Cortex-M7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INT8 quantized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1-min intervals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28800" y="2286000"/>
            <a:ext cx="228600" cy="0"/>
          </a:xfrm>
          <a:prstGeom prst="line">
            <a:avLst/>
          </a:prstGeom>
          <a:noFill/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2057400" y="1280160"/>
            <a:ext cx="1554480" cy="237744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2057400" y="1280160"/>
            <a:ext cx="1554480" cy="50292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057400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Telemetry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Aggregation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130552" y="1874520"/>
            <a:ext cx="1408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Batch upload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Sensor logs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Fleet gateway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11880" y="2286000"/>
            <a:ext cx="228600" cy="0"/>
          </a:xfrm>
          <a:prstGeom prst="line">
            <a:avLst/>
          </a:prstGeom>
          <a:noFill/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840480" y="1280160"/>
            <a:ext cx="1554480" cy="237744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840480" y="1280160"/>
            <a:ext cx="1554480" cy="5029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840480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 Analytics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Engine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913632" y="1874520"/>
            <a:ext cx="1408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training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Retraining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Fleet analytics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94960" y="2286000"/>
            <a:ext cx="228600" cy="0"/>
          </a:xfrm>
          <a:prstGeom prst="line">
            <a:avLst/>
          </a:prstGeom>
          <a:noFill/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5623560" y="1280160"/>
            <a:ext cx="1554480" cy="237744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5623560" y="1280160"/>
            <a:ext cx="1554480" cy="502920"/>
          </a:xfrm>
          <a:prstGeom prst="rect">
            <a:avLst/>
          </a:prstGeom>
          <a:solidFill>
            <a:srgbClr val="148F7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5623560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Maintenance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Decision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96712" y="1874520"/>
            <a:ext cx="1408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Alert tiers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θ=0.35 / θ=0.15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Scheduling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78040" y="2286000"/>
            <a:ext cx="228600" cy="0"/>
          </a:xfrm>
          <a:prstGeom prst="line">
            <a:avLst/>
          </a:prstGeom>
          <a:noFill/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7406640" y="1280160"/>
            <a:ext cx="1554480" cy="237744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7406640" y="1280160"/>
            <a:ext cx="1554480" cy="502920"/>
          </a:xfrm>
          <a:prstGeom prst="rect">
            <a:avLst/>
          </a:prstGeom>
          <a:solidFill>
            <a:srgbClr val="8E44A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7406640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Update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Pipeline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479792" y="1874520"/>
            <a:ext cx="14081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OTA updates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Incremental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Edge deploy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640080" y="38862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Edge: INT8-quantized XGBoost (fuel filter) + pruned LSTM (DPF) | 256 KB RAM | &lt;0.8% accuracy loss | Outputs: DPF health (0-1), fault class probabilities (6-class), regen recommendation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Fuel Filter Fault Taxonomy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6-Class Fuel Filter Fault Taxonomy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2606040" cy="146304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48640" y="130759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Normal Aging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164592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Gradual sediment accumulation over service life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22860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92.1%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2606040" cy="146304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383280" y="130759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Microbial Contamination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83280" y="164592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Biofouling with characteristic flow oscillations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83280" y="22860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89.3%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126480" y="1234440"/>
            <a:ext cx="2606040" cy="146304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217920" y="130759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Ingress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17920" y="164592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Free water accumulation with distinctive temp-pressure signature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217920" y="22860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97.2%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" y="2926080"/>
            <a:ext cx="2606040" cy="146304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48640" y="29992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Wax Crystallization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3337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Low-temperature paraffin wax formation in fuel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48640" y="3977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96.8%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3291840" y="2926080"/>
            <a:ext cx="2606040" cy="146304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Filter Bypass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383280" y="3337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Collapsed media causing unfiltered flow (hardest to detect)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383280" y="3977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84.1%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126480" y="2926080"/>
            <a:ext cx="2606040" cy="146304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6217920" y="29992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Housing Seal Failure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217920" y="3337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Seal degradation producing unfiltered bypass flow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17920" y="39776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88.7%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40080" y="123444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Geographic Scope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0" y="12344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restricted to northern India. Climate, road conditions, fuel sulfur content may differ from European/North American/SE Asian fleets.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29968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40080" y="207568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Study Duration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2075688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 months may not capture full seasonal variation in wax crystallization or long-term ash accumulation dynamics.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71216"/>
            <a:ext cx="8229600" cy="71323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40080" y="2916936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SAI Reliability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560320" y="2916936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Soot Accumulation Index is a model-derived estimate, not direct gravimetric measurement. Systematic error varies with filter aging and fuel quality.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712464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40080" y="3758184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Privacy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60320" y="3758184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Continuous collection of vehicle location, speed, load data raises privacy concerns. Requires clear data minimization policies.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0" y="45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4727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 | Dept. of Computer Sciences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4727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/ 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Research Directions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3931920" cy="141732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57200" y="1234440"/>
            <a:ext cx="64008" cy="141732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008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10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Digital Twin Integration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167335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Couple ML model with physics-based simulation of DPF/DOC/SCR for physically interpretable predictions including ash capacity estimates.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3931920" cy="141732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4663440" y="1234440"/>
            <a:ext cx="64008" cy="14173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84632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27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Federated Fleet Learning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167335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 shared global models by aggregating gradient updates across fleet operators without centralizing raw data.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3931920" cy="141732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457200" y="2880360"/>
            <a:ext cx="64008" cy="1417320"/>
          </a:xfrm>
          <a:prstGeom prst="rect">
            <a:avLst/>
          </a:prstGeom>
          <a:solidFill>
            <a:srgbClr val="148F7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40080" y="2971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8F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Multi-Sensor Fusion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31927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Integrate acoustic emission sensors for early detection of substrate cracking and ash delamination not visible in pressure-temperature data.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63440" y="2880360"/>
            <a:ext cx="3931920" cy="1417320"/>
          </a:xfrm>
          <a:prstGeom prst="rect">
            <a:avLst/>
          </a:prstGeom>
          <a:solidFill>
            <a:srgbClr val="F5F5F5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4663440" y="2880360"/>
            <a:ext cx="64008" cy="141732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846320" y="2971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Transfer Learning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46320" y="331927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Domain adaptation and fine-tuning pre-trained feature extractors to accelerate deployment on new engine families.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CHITKARA UNIVERSITY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C810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9B00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2743200" cy="0"/>
          </a:xfrm>
          <a:prstGeom prst="line">
            <a:avLst/>
          </a:prstGeom>
          <a:noFill/>
          <a:ln w="25400">
            <a:solidFill>
              <a:srgbClr val="C810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Nabh Jindal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jindalnabh2004@gmail.com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1504</Words>
  <Application>Microsoft Office PowerPoint</Application>
  <PresentationFormat>On-screen Show (16:9)</PresentationFormat>
  <Paragraphs>396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Diesel Filter Modernization: Predictive Maintenance Using ML</dc:title>
  <dc:subject>PptxGenJS Presentation</dc:subject>
  <dc:creator>Nabh Jindal</dc:creator>
  <cp:lastModifiedBy>Sanjeev Juneja</cp:lastModifiedBy>
  <cp:revision>2</cp:revision>
  <dcterms:created xsi:type="dcterms:W3CDTF">2026-04-20T12:58:59Z</dcterms:created>
  <dcterms:modified xsi:type="dcterms:W3CDTF">2026-05-18T10:21:19Z</dcterms:modified>
</cp:coreProperties>
</file>